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E84483-B1A3-A7AB-BFF6-9A9CD4E92E74}" v="11" dt="2025-08-27T08:34:16.906"/>
    <p1510:client id="{2FD851C8-6CFB-A6D8-35F1-B776789E3198}" v="5" dt="2025-08-27T01:09:54.494"/>
    <p1510:client id="{4B1669AD-A56B-BDBC-AC2F-EDFC4F53FA01}" v="274" dt="2025-08-27T01:33:24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Start → End</a:t>
            </a:r>
            <a:br/>
            <a:r>
              <a:t>- Students begin with gaps in knowledge</a:t>
            </a:r>
            <a:br/>
            <a:r>
              <a:t>- Our goal: help them transform gaps into genuine gains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i="1"/>
              <a:t>“So the question is: which story do we want to write in our classrooms?”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Students:</a:t>
            </a:r>
            <a:br/>
            <a:r>
              <a:t>- Practice professional conversations</a:t>
            </a:r>
            <a:br/>
            <a:r>
              <a:t>- Role-play difficult scenarios</a:t>
            </a:r>
            <a:br/>
            <a:r>
              <a:t>- Get instant feedback</a:t>
            </a:r>
            <a:br/>
            <a:r>
              <a:t>- Build confidence safely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Lecturers:</a:t>
            </a:r>
            <a:br/>
            <a:r>
              <a:t>- Create custom scenarios</a:t>
            </a:r>
            <a:br/>
            <a:r>
              <a:t>- Track common struggles</a:t>
            </a:r>
            <a:br/>
            <a:r>
              <a:t>- Provide targeted support</a:t>
            </a:r>
            <a:br/>
            <a:r>
              <a:t>- </a:t>
            </a:r>
            <a:r>
              <a:rPr b="1"/>
              <a:t>Value:</a:t>
            </a:r>
            <a:r>
              <a:t> Fail safely, learn, try again — no real-world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You upload:</a:t>
            </a:r>
            <a:br/>
            <a:r>
              <a:t>- Student evaluations</a:t>
            </a:r>
            <a:br/>
            <a:r>
              <a:t>- Unit surveys</a:t>
            </a:r>
            <a:br/>
            <a:r>
              <a:t>- Mid-semester reviews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Insight Lens finds:</a:t>
            </a:r>
            <a:br/>
            <a:r>
              <a:t>- Common themes</a:t>
            </a:r>
            <a:br/>
            <a:r>
              <a:t>- Hidden patterns</a:t>
            </a:r>
            <a:br/>
            <a:r>
              <a:t>- Specific improvements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rPr b="1"/>
              <a:t>Value:</a:t>
            </a:r>
            <a:r>
              <a:t> Your expertise + data insights = better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Reassure without lecturing. Keep it short, confident, balanced.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t>Guidance on </a:t>
            </a:r>
            <a:r>
              <a:rPr b="1"/>
              <a:t>safe use &amp; policy</a:t>
            </a:r>
            <a:br/>
            <a:endParaRPr/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Practical demos</a:t>
            </a:r>
            <a:r>
              <a:t> &amp; workshops</a:t>
            </a:r>
            <a:br/>
            <a:endParaRPr/>
          </a:p>
          <a:p>
            <a:pPr marL="0" lvl="0" indent="0">
              <a:buNone/>
            </a:pPr>
            <a:endParaRPr/>
          </a:p>
          <a:p>
            <a:pPr lvl="0"/>
            <a:r>
              <a:t>Help with </a:t>
            </a:r>
            <a:r>
              <a:rPr b="1"/>
              <a:t>curriculum integration</a:t>
            </a:r>
            <a:br/>
            <a:endParaRPr/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Tools &amp; resource</a:t>
            </a:r>
            <a:r>
              <a:t> curation</a:t>
            </a:r>
            <a:br/>
            <a:endParaRPr/>
          </a:p>
          <a:p>
            <a:pPr marL="0" lvl="0" indent="0">
              <a:buNone/>
            </a:pPr>
            <a:endParaRPr/>
          </a:p>
          <a:p>
            <a:pPr lvl="0"/>
            <a:r>
              <a:rPr b="1"/>
              <a:t>One-to-one support</a:t>
            </a:r>
            <a:r>
              <a:t> for teaching/assessment</a:t>
            </a:r>
            <a:br/>
            <a:endParaRPr/>
          </a:p>
          <a:p>
            <a:pPr marL="0" lvl="0" indent="0">
              <a:buNone/>
            </a:pPr>
            <a:endParaRPr/>
          </a:p>
          <a:p>
            <a:pPr lvl="0"/>
            <a:r>
              <a:t>Research support (e.g. transcription, analysis, writing)</a:t>
            </a:r>
            <a:br/>
            <a:endParaRPr/>
          </a:p>
          <a:p>
            <a:pPr marL="0" lvl="0" indent="0">
              <a:buNone/>
            </a:pPr>
            <a:endParaRPr/>
          </a:p>
          <a:p>
            <a:pPr lvl="0"/>
            <a:r>
              <a:t>Other (open text)</a:t>
            </a:r>
            <a:b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ichaelborck.education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1" descr="qrcode.png">
            <a:extLst>
              <a:ext uri="{FF2B5EF4-FFF2-40B4-BE49-F238E27FC236}">
                <a16:creationId xmlns:a16="http://schemas.microsoft.com/office/drawing/2014/main" id="{F42D7F09-B671-CDB9-4EBD-CC129FE74F53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alphaModFix/>
          </a:blip>
          <a:srcRect t="8351" b="4927"/>
          <a:stretch>
            <a:fillRect/>
          </a:stretch>
        </p:blipFill>
        <p:spPr bwMode="auto">
          <a:xfrm>
            <a:off x="3212926" y="10"/>
            <a:ext cx="5931074" cy="5143491"/>
          </a:xfrm>
          <a:prstGeom prst="rect">
            <a:avLst/>
          </a:prstGeom>
          <a:noFill/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497" y="836414"/>
            <a:ext cx="4129087" cy="1790700"/>
          </a:xfrm>
        </p:spPr>
        <p:txBody>
          <a:bodyPr>
            <a:normAutofit/>
          </a:bodyPr>
          <a:lstStyle/>
          <a:p>
            <a:pPr marL="0" lvl="0" indent="0" algn="l">
              <a:buNone/>
            </a:pPr>
            <a:r>
              <a:rPr lang="en-US" sz="3800">
                <a:solidFill>
                  <a:schemeClr val="bg1"/>
                </a:solidFill>
              </a:rPr>
              <a:t>From Gaps to Gains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6497" y="2926556"/>
            <a:ext cx="4129087" cy="1241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Rethinking AI in Education</a:t>
            </a:r>
            <a:br>
              <a:rPr lang="en-US" sz="2000" dirty="0"/>
            </a:br>
            <a:br>
              <a:rPr lang="en-US" sz="1500" dirty="0"/>
            </a:br>
            <a:r>
              <a:rPr lang="en-US" sz="1500" dirty="0">
                <a:solidFill>
                  <a:schemeClr val="bg1"/>
                </a:solidFill>
              </a:rPr>
              <a:t>Michael Borck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6438" y="2761056"/>
            <a:ext cx="8951115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2"/>
            <a:ext cx="2057400" cy="273844"/>
          </a:xfrm>
        </p:spPr>
        <p:txBody>
          <a:bodyPr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en-US">
                <a:solidFill>
                  <a:schemeClr val="bg1">
                    <a:lumMod val="50000"/>
                  </a:schemeClr>
                </a:solidFill>
              </a:rPr>
              <a:t>2025-01-01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8CE3AC-6946-B0F8-0FE1-CED151092B1E}"/>
              </a:ext>
            </a:extLst>
          </p:cNvPr>
          <p:cNvSpPr txBox="1"/>
          <p:nvPr/>
        </p:nvSpPr>
        <p:spPr>
          <a:xfrm>
            <a:off x="-304800" y="4523509"/>
            <a:ext cx="3463637" cy="411019"/>
          </a:xfrm>
          <a:prstGeom prst="rect">
            <a:avLst/>
          </a:prstGeom>
          <a:noFill/>
        </p:spPr>
        <p:txBody>
          <a:bodyPr lIns="91440" tIns="45720" rIns="91440" bIns="45720" anchor="t"/>
          <a:lstStyle/>
          <a:p>
            <a:pPr marL="0" lvl="0" indent="0" algn="ctr">
              <a:spcAft>
                <a:spcPts val="600"/>
              </a:spcAft>
              <a:buNone/>
            </a:pPr>
            <a:r>
              <a:rPr sz="1400" dirty="0">
                <a:solidFill>
                  <a:schemeClr val="bg1"/>
                </a:solidFill>
              </a:rPr>
              <a:t>https://michaelborck.education/ai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Rectangle 384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087991"/>
            <a:ext cx="2949023" cy="2967517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en-US" sz="6000">
                <a:solidFill>
                  <a:schemeClr val="bg1"/>
                </a:solidFill>
              </a:rPr>
              <a:t>Today’s Journey</a:t>
            </a:r>
          </a:p>
        </p:txBody>
      </p:sp>
      <p:cxnSp>
        <p:nvCxnSpPr>
          <p:cNvPr id="386" name="Straight Connector 385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08799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4056428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019" y="831045"/>
            <a:ext cx="5315310" cy="3428979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From Gaps to Gains: </a:t>
            </a:r>
            <a:r>
              <a:rPr lang="en-US" sz="2000" dirty="0">
                <a:solidFill>
                  <a:schemeClr val="bg1"/>
                </a:solidFill>
              </a:rPr>
              <a:t>setting the scene</a:t>
            </a:r>
            <a:br>
              <a:rPr lang="en-US" sz="2000" dirty="0"/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Talk Buddy: </a:t>
            </a:r>
            <a:r>
              <a:rPr lang="en-US" sz="2000" dirty="0">
                <a:solidFill>
                  <a:schemeClr val="bg1"/>
                </a:solidFill>
              </a:rPr>
              <a:t>student practice with feedback</a:t>
            </a:r>
            <a:br>
              <a:rPr lang="en-US" sz="2000" dirty="0"/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Insight Lens: </a:t>
            </a:r>
            <a:r>
              <a:rPr lang="en-US" sz="2000" dirty="0">
                <a:solidFill>
                  <a:schemeClr val="bg1"/>
                </a:solidFill>
              </a:rPr>
              <a:t>turning surveys into action</a:t>
            </a:r>
            <a:br>
              <a:rPr lang="en-US" sz="2000" dirty="0"/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Quick Win: </a:t>
            </a:r>
            <a:r>
              <a:rPr lang="en-US" sz="2000" dirty="0">
                <a:solidFill>
                  <a:schemeClr val="bg1"/>
                </a:solidFill>
              </a:rPr>
              <a:t>FAQ → interactive quiz</a:t>
            </a:r>
            <a:br>
              <a:rPr lang="en-US" sz="2000" dirty="0"/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Discussion &amp; Concerns: </a:t>
            </a:r>
            <a:r>
              <a:rPr lang="en-US" sz="2000" dirty="0">
                <a:solidFill>
                  <a:schemeClr val="bg1"/>
                </a:solidFill>
              </a:rPr>
              <a:t>practical realities</a:t>
            </a:r>
            <a:br>
              <a:rPr lang="en-US" sz="2000" dirty="0"/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Closing: </a:t>
            </a:r>
            <a:r>
              <a:rPr lang="en-US" sz="2000" dirty="0">
                <a:solidFill>
                  <a:schemeClr val="bg1"/>
                </a:solidFill>
              </a:rPr>
              <a:t>where do we go from here?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837396"/>
            <a:ext cx="7944130" cy="7504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000">
                <a:solidFill>
                  <a:schemeClr val="tx2"/>
                </a:solidFill>
              </a:rPr>
              <a:t>From Gaps to Gains</a:t>
            </a:r>
          </a:p>
        </p:txBody>
      </p:sp>
      <p:pic>
        <p:nvPicPr>
          <p:cNvPr id="3" name="Picture 1" descr="gaps-to-gains.png"/>
          <p:cNvPicPr>
            <a:picLocks noGrp="1" noChangeAspect="1"/>
          </p:cNvPicPr>
          <p:nvPr/>
        </p:nvPicPr>
        <p:blipFill>
          <a:blip r:embed="rId3"/>
          <a:srcRect l="888" r="1173" b="-2"/>
          <a:stretch>
            <a:fillRect/>
          </a:stretch>
        </p:blipFill>
        <p:spPr bwMode="auto">
          <a:xfrm>
            <a:off x="20" y="10"/>
            <a:ext cx="9143980" cy="3151084"/>
          </a:xfrm>
          <a:prstGeom prst="rect">
            <a:avLst/>
          </a:prstGeom>
          <a:noFill/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206359"/>
            <a:ext cx="9141713" cy="1371600"/>
            <a:chOff x="-305" y="3144820"/>
            <a:chExt cx="9182100" cy="1551136"/>
          </a:xfrm>
        </p:grpSpPr>
        <p:sp useBgFill="1">
          <p:nvSpPr>
            <p:cNvPr id="12" name="Freeform: Shape 11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603504" y="3435588"/>
            <a:ext cx="7062673" cy="3632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</a:pPr>
            <a:r>
              <a:rPr lang="en-US" sz="1500">
                <a:solidFill>
                  <a:schemeClr val="tx2"/>
                </a:solidFill>
              </a:rPr>
              <a:t>Gaps-to-Gains: Start -&gt;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1" descr="./talk-buddy.png"/>
          <p:cNvPicPr>
            <a:picLocks noGrp="1" noChangeAspect="1"/>
          </p:cNvPicPr>
          <p:nvPr/>
        </p:nvPicPr>
        <p:blipFill>
          <a:blip r:embed="rId3"/>
          <a:srcRect r="16405" b="9092"/>
          <a:stretch>
            <a:fillRect/>
          </a:stretch>
        </p:blipFill>
        <p:spPr bwMode="auto">
          <a:xfrm>
            <a:off x="2642616" y="10"/>
            <a:ext cx="6501384" cy="5143490"/>
          </a:xfrm>
          <a:prstGeom prst="rect">
            <a:avLst/>
          </a:prstGeom>
          <a:noFill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7004404" cy="51435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85" y="841772"/>
            <a:ext cx="3017520" cy="24031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600">
                <a:solidFill>
                  <a:schemeClr val="bg1"/>
                </a:solidFill>
              </a:rPr>
              <a:t>Talk Buddy — Conversation Practice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69941" y="260093"/>
            <a:ext cx="109728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3410190"/>
            <a:ext cx="2983230" cy="13716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1" descr="./insight-lens.png"/>
          <p:cNvPicPr>
            <a:picLocks noGrp="1" noChangeAspect="1"/>
          </p:cNvPicPr>
          <p:nvPr/>
        </p:nvPicPr>
        <p:blipFill>
          <a:blip r:embed="rId3">
            <a:alphaModFix amt="50000"/>
          </a:blip>
          <a:srcRect l="25333"/>
          <a:stretch>
            <a:fillRect/>
          </a:stretch>
        </p:blipFill>
        <p:spPr bwMode="auto">
          <a:xfrm>
            <a:off x="20" y="10"/>
            <a:ext cx="9143980" cy="514349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841771"/>
            <a:ext cx="6858000" cy="21753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lvl="0" indent="0" defTabSz="914400">
              <a:lnSpc>
                <a:spcPct val="90000"/>
              </a:lnSpc>
            </a:pPr>
            <a:r>
              <a:rPr lang="en-US" sz="6000">
                <a:solidFill>
                  <a:srgbClr val="FFFFFF"/>
                </a:solidFill>
              </a:rPr>
              <a:t>Insight Lens — Your Feedback, Actionable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087991"/>
            <a:ext cx="2949023" cy="2967517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4700">
                <a:solidFill>
                  <a:schemeClr val="bg1"/>
                </a:solidFill>
              </a:rPr>
              <a:t>Quick Win: Static → Interactive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08799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4056428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31045"/>
            <a:ext cx="3756675" cy="342897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In 2 minutes:</a:t>
            </a:r>
            <a:br>
              <a:rPr lang="en-US" sz="2000" dirty="0"/>
            </a:br>
            <a:r>
              <a:rPr lang="en-US" sz="2000" dirty="0">
                <a:solidFill>
                  <a:schemeClr val="bg1"/>
                </a:solidFill>
              </a:rPr>
              <a:t>1. Take an FAQ or worksheet</a:t>
            </a:r>
            <a:br>
              <a:rPr lang="en-US" sz="2000" dirty="0"/>
            </a:br>
            <a:r>
              <a:rPr lang="en-US" sz="2000" dirty="0">
                <a:solidFill>
                  <a:schemeClr val="bg1"/>
                </a:solidFill>
              </a:rPr>
              <a:t>2. Ask AI to make a interactive web page 3. Upload to Blackboard</a:t>
            </a:r>
            <a:br>
              <a:rPr lang="en-US" sz="2000" dirty="0"/>
            </a:br>
            <a:r>
              <a:rPr lang="en-US" sz="2000" dirty="0">
                <a:solidFill>
                  <a:schemeClr val="bg1"/>
                </a:solidFill>
              </a:rPr>
              <a:t>4. Students interact, save locally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lvl="0" indent="0">
              <a:buNone/>
            </a:pPr>
            <a:r>
              <a:rPr lang="en-US" sz="2000" i="1" dirty="0">
                <a:solidFill>
                  <a:schemeClr val="bg1"/>
                </a:solidFill>
              </a:rPr>
              <a:t>“No programming required — copy template, swap questions, done.”</a:t>
            </a:r>
            <a:endParaRPr lang="en-US" sz="2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i="1" dirty="0">
              <a:solidFill>
                <a:schemeClr val="bg1"/>
              </a:solidFill>
            </a:endParaRPr>
          </a:p>
          <a:p>
            <a:pPr marL="1270000" lv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Privacy First</a:t>
            </a:r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  <a:p>
            <a:pPr marL="1270000" lv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Runs in the browser. No logins. No data leaves the device.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087991"/>
            <a:ext cx="2949023" cy="2967517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5100" dirty="0">
                <a:solidFill>
                  <a:schemeClr val="bg1"/>
                </a:solidFill>
              </a:rPr>
              <a:t>Common Concerns </a:t>
            </a:r>
            <a:endParaRPr lang="en-US" sz="51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08799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4056428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7710" y="831045"/>
            <a:ext cx="5391509" cy="342897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Plagiarism?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pPr marL="0" lv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→ Use AI as </a:t>
            </a:r>
            <a:r>
              <a:rPr lang="en-US" sz="2000" i="1" dirty="0">
                <a:solidFill>
                  <a:schemeClr val="bg1"/>
                </a:solidFill>
              </a:rPr>
              <a:t>editor</a:t>
            </a:r>
            <a:r>
              <a:rPr lang="en-US" sz="2000" dirty="0">
                <a:solidFill>
                  <a:schemeClr val="bg1"/>
                </a:solidFill>
              </a:rPr>
              <a:t> + require transparency</a:t>
            </a:r>
            <a:br>
              <a:rPr lang="en-US" sz="2000" dirty="0"/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Lazy students?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→ Design critique &amp; reflection tasks</a:t>
            </a:r>
            <a:br>
              <a:rPr lang="en-US" sz="2000" dirty="0"/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Replace teachers?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→ No, AI handles routine, we do relationships</a:t>
            </a:r>
            <a:br>
              <a:rPr lang="en-US" sz="2000" dirty="0"/>
            </a:b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Data privacy?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lv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→ Use safe tools, no sensitive data in consumer AI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087991"/>
            <a:ext cx="2949023" cy="2967517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3800" dirty="0">
                <a:solidFill>
                  <a:schemeClr val="bg1"/>
                </a:solidFill>
              </a:rPr>
              <a:t>Beyond Today</a:t>
            </a:r>
            <a:endParaRPr lang="en-US" sz="38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08799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4056428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754" y="831045"/>
            <a:ext cx="5357940" cy="3428979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000" b="1" err="1">
                <a:solidFill>
                  <a:schemeClr val="bg1"/>
                </a:solidFill>
              </a:rPr>
              <a:t>CloudCore</a:t>
            </a:r>
            <a:r>
              <a:rPr lang="en-US" sz="2000" dirty="0">
                <a:solidFill>
                  <a:schemeClr val="bg1"/>
                </a:solidFill>
              </a:rPr>
              <a:t> – Scenario-based teaching platform </a:t>
            </a:r>
            <a:endParaRPr lang="en-US" sz="1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https://cloudcore.serveur.au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err="1">
                <a:solidFill>
                  <a:schemeClr val="bg1"/>
                </a:solidFill>
              </a:rPr>
              <a:t>FeedForward</a:t>
            </a:r>
            <a:r>
              <a:rPr lang="en-US" sz="2000" dirty="0">
                <a:solidFill>
                  <a:schemeClr val="bg1"/>
                </a:solidFill>
              </a:rPr>
              <a:t> – Structured learning from feedback </a:t>
            </a:r>
            <a:endParaRPr lang="en-US" sz="1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https://feedforward.serveur.au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Curriculum Curator</a:t>
            </a:r>
            <a:r>
              <a:rPr lang="en-US" sz="2000" dirty="0">
                <a:solidFill>
                  <a:schemeClr val="bg1"/>
                </a:solidFill>
              </a:rPr>
              <a:t> – AI-assisted course design </a:t>
            </a:r>
            <a:endParaRPr lang="en-US" sz="14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https://cc.serveur.au</a:t>
            </a:r>
            <a:endParaRPr lang="en-US" sz="140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None/>
            </a:pPr>
            <a:endParaRPr lang="en-US" sz="1800" b="1" dirty="0">
              <a:solidFill>
                <a:schemeClr val="bg1"/>
              </a:solidFill>
              <a:ea typeface="Calibri"/>
              <a:cs typeface="Calibri"/>
            </a:endParaRPr>
          </a:p>
          <a:p>
            <a:pPr>
              <a:buNone/>
            </a:pPr>
            <a:r>
              <a:rPr lang="en-US" sz="1800" b="1" dirty="0" err="1">
                <a:solidFill>
                  <a:schemeClr val="bg1"/>
                </a:solidFill>
                <a:ea typeface="Calibri"/>
                <a:cs typeface="Calibri"/>
              </a:rPr>
              <a:t>TechNova</a:t>
            </a:r>
            <a:r>
              <a:rPr lang="en-US" sz="1800" b="1" dirty="0">
                <a:solidFill>
                  <a:schemeClr val="bg1"/>
                </a:solidFill>
                <a:ea typeface="Calibri"/>
                <a:cs typeface="Calibri"/>
              </a:rPr>
              <a:t>-Sim</a:t>
            </a:r>
            <a:r>
              <a:rPr lang="en-US" sz="1800" dirty="0">
                <a:solidFill>
                  <a:schemeClr val="bg1"/>
                </a:solidFill>
                <a:ea typeface="Calibri"/>
                <a:cs typeface="Calibri"/>
              </a:rPr>
              <a:t> – Cybersecurity simulation</a:t>
            </a:r>
          </a:p>
          <a:p>
            <a:pPr>
              <a:buNone/>
            </a:pPr>
            <a:r>
              <a:rPr lang="en-US" sz="1400" dirty="0">
                <a:solidFill>
                  <a:schemeClr val="bg1"/>
                </a:solidFill>
                <a:ea typeface="Calibri"/>
                <a:cs typeface="Calibri"/>
              </a:rPr>
              <a:t>https://technova.serveur.au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Study Buddy</a:t>
            </a:r>
            <a:r>
              <a:rPr lang="en-US" sz="2000" dirty="0">
                <a:solidFill>
                  <a:schemeClr val="bg1"/>
                </a:solidFill>
              </a:rPr>
              <a:t> – Offline AI tutor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b="1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lv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Critique Quest</a:t>
            </a:r>
            <a:r>
              <a:rPr lang="en-US" sz="2000" dirty="0">
                <a:solidFill>
                  <a:schemeClr val="bg1"/>
                </a:solidFill>
              </a:rPr>
              <a:t> – AI-powered case studies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marL="0" lv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Explore more: </a:t>
            </a:r>
            <a:r>
              <a:rPr lang="en-US" sz="15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michaelborck.education</a:t>
            </a:r>
            <a:endParaRPr lang="en-US" sz="1500" dirty="0">
              <a:solidFill>
                <a:schemeClr val="bg1"/>
              </a:solidFill>
              <a:ea typeface="Calibri"/>
              <a:cs typeface="Calibri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605" y="1087991"/>
            <a:ext cx="2949023" cy="2967517"/>
          </a:xfrm>
        </p:spPr>
        <p:txBody>
          <a:bodyPr anchor="ctr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5100">
                <a:solidFill>
                  <a:schemeClr val="bg1"/>
                </a:solidFill>
              </a:rPr>
              <a:t>Beyond Teaching: AI in Research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08799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4056428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1088" y="91026"/>
            <a:ext cx="5284336" cy="4784459"/>
          </a:xfrm>
        </p:spPr>
        <p:txBody>
          <a:bodyPr anchor="ctr">
            <a:normAutofit/>
          </a:bodyPr>
          <a:lstStyle/>
          <a:p>
            <a:pPr lvl="0"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Audio transcription &amp; thematic analysis</a:t>
            </a:r>
            <a:r>
              <a:rPr lang="en-US" sz="2000" dirty="0">
                <a:solidFill>
                  <a:schemeClr val="bg1"/>
                </a:solidFill>
              </a:rPr>
              <a:t> (Otter-style tools)</a:t>
            </a:r>
            <a:br>
              <a:rPr lang="en-US" sz="2000" dirty="0"/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lvl="0"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Literature review assistance</a:t>
            </a:r>
            <a:r>
              <a:rPr lang="en-US" sz="2000" dirty="0">
                <a:solidFill>
                  <a:schemeClr val="bg1"/>
                </a:solidFill>
              </a:rPr>
              <a:t> (search, </a:t>
            </a:r>
            <a:r>
              <a:rPr lang="en-US" sz="2000" err="1">
                <a:solidFill>
                  <a:schemeClr val="bg1"/>
                </a:solidFill>
              </a:rPr>
              <a:t>summarise</a:t>
            </a:r>
            <a:r>
              <a:rPr lang="en-US" sz="2000" dirty="0">
                <a:solidFill>
                  <a:schemeClr val="bg1"/>
                </a:solidFill>
              </a:rPr>
              <a:t>, compare)</a:t>
            </a:r>
            <a:br>
              <a:rPr lang="en-US" sz="2000" dirty="0"/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lvl="0"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Data handling &amp; </a:t>
            </a:r>
            <a:r>
              <a:rPr lang="en-US" sz="2000" b="1" err="1">
                <a:solidFill>
                  <a:schemeClr val="bg1"/>
                </a:solidFill>
              </a:rPr>
              <a:t>visualisation</a:t>
            </a:r>
            <a:r>
              <a:rPr lang="en-US" sz="2000" dirty="0">
                <a:solidFill>
                  <a:schemeClr val="bg1"/>
                </a:solidFill>
              </a:rPr>
              <a:t> (survey analysis, charting)</a:t>
            </a:r>
            <a:br>
              <a:rPr lang="en-US" sz="2000" dirty="0"/>
            </a:b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  <a:p>
            <a:pPr lvl="0">
              <a:lnSpc>
                <a:spcPct val="90000"/>
              </a:lnSpc>
            </a:pPr>
            <a:r>
              <a:rPr lang="en-US" sz="2000" b="1" dirty="0">
                <a:solidFill>
                  <a:schemeClr val="bg1"/>
                </a:solidFill>
              </a:rPr>
              <a:t>Drafting &amp; editing support</a:t>
            </a:r>
            <a:r>
              <a:rPr lang="en-US" sz="2000" dirty="0">
                <a:solidFill>
                  <a:schemeClr val="bg1"/>
                </a:solidFill>
              </a:rPr>
              <a:t> (grants, papers, reviews)</a:t>
            </a:r>
            <a:endParaRPr lang="en-US" sz="2000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3D6EC93-F369-413E-AA67-5D4104161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231314"/>
            <a:ext cx="3295650" cy="9925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 algn="l" defTabSz="914400">
              <a:lnSpc>
                <a:spcPct val="90000"/>
              </a:lnSpc>
            </a:pPr>
            <a:r>
              <a:rPr lang="en-US" sz="3000">
                <a:solidFill>
                  <a:schemeClr val="bg1"/>
                </a:solidFill>
              </a:rPr>
              <a:t>Shaping Our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" y="2359800"/>
            <a:ext cx="3295650" cy="184072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Poll open for the next few days </a:t>
            </a:r>
          </a:p>
          <a:p>
            <a:pPr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Your input will shape how this role develops.</a:t>
            </a:r>
            <a:endParaRPr lang="en-US" dirty="0">
              <a:solidFill>
                <a:schemeClr val="bg1">
                  <a:alpha val="80000"/>
                </a:schemeClr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dirty="0">
              <a:solidFill>
                <a:schemeClr val="bg1">
                  <a:alpha val="80000"/>
                </a:schemeClr>
              </a:solidFill>
              <a:ea typeface="Calibri"/>
              <a:cs typeface="Calibri"/>
            </a:endParaRPr>
          </a:p>
          <a:p>
            <a:pPr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alpha val="80000"/>
                  </a:schemeClr>
                </a:solidFill>
                <a:ea typeface="+mn-lt"/>
                <a:cs typeface="+mn-lt"/>
              </a:rPr>
              <a:t>https://forms.office.com/r/4h36NYwdU7?origin=lprLink</a:t>
            </a:r>
            <a:endParaRPr lang="en-US" dirty="0">
              <a:solidFill>
                <a:schemeClr val="bg1">
                  <a:alpha val="80000"/>
                </a:schemeClr>
              </a:solidFill>
              <a:ea typeface="Calibri"/>
              <a:cs typeface="Calibri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EA04677-6B2C-40F4-975C-ED9196552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24273" y="0"/>
            <a:ext cx="656039" cy="5143091"/>
            <a:chOff x="5632356" y="0"/>
            <a:chExt cx="874718" cy="6857455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F1ABE2E-F19F-4BD3-B0FA-8A2D8885B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6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8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86D0F14-D449-4833-830D-A382829E2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2640988" y="2991370"/>
              <a:ext cx="6857455" cy="874716"/>
            </a:xfrm>
            <a:custGeom>
              <a:avLst/>
              <a:gdLst>
                <a:gd name="connsiteX0" fmla="*/ 6857455 w 6857455"/>
                <a:gd name="connsiteY0" fmla="*/ 804643 h 874716"/>
                <a:gd name="connsiteX1" fmla="*/ 6857455 w 6857455"/>
                <a:gd name="connsiteY1" fmla="*/ 562246 h 874716"/>
                <a:gd name="connsiteX2" fmla="*/ 6829178 w 6857455"/>
                <a:gd name="connsiteY2" fmla="*/ 551284 h 874716"/>
                <a:gd name="connsiteX3" fmla="*/ 6766024 w 6857455"/>
                <a:gd name="connsiteY3" fmla="*/ 500372 h 874716"/>
                <a:gd name="connsiteX4" fmla="*/ 6734971 w 6857455"/>
                <a:gd name="connsiteY4" fmla="*/ 500944 h 874716"/>
                <a:gd name="connsiteX5" fmla="*/ 6683915 w 6857455"/>
                <a:gd name="connsiteY5" fmla="*/ 507040 h 874716"/>
                <a:gd name="connsiteX6" fmla="*/ 6628860 w 6857455"/>
                <a:gd name="connsiteY6" fmla="*/ 495418 h 874716"/>
                <a:gd name="connsiteX7" fmla="*/ 6588662 w 6857455"/>
                <a:gd name="connsiteY7" fmla="*/ 487227 h 874716"/>
                <a:gd name="connsiteX8" fmla="*/ 6476074 w 6857455"/>
                <a:gd name="connsiteY8" fmla="*/ 511230 h 874716"/>
                <a:gd name="connsiteX9" fmla="*/ 6382345 w 6857455"/>
                <a:gd name="connsiteY9" fmla="*/ 534853 h 874716"/>
                <a:gd name="connsiteX10" fmla="*/ 6369391 w 6857455"/>
                <a:gd name="connsiteY10" fmla="*/ 531615 h 874716"/>
                <a:gd name="connsiteX11" fmla="*/ 6244799 w 6857455"/>
                <a:gd name="connsiteY11" fmla="*/ 512182 h 874716"/>
                <a:gd name="connsiteX12" fmla="*/ 6190315 w 6857455"/>
                <a:gd name="connsiteY12" fmla="*/ 485703 h 874716"/>
                <a:gd name="connsiteX13" fmla="*/ 6115446 w 6857455"/>
                <a:gd name="connsiteY13" fmla="*/ 462270 h 874716"/>
                <a:gd name="connsiteX14" fmla="*/ 6032194 w 6857455"/>
                <a:gd name="connsiteY14" fmla="*/ 434266 h 874716"/>
                <a:gd name="connsiteX15" fmla="*/ 5971042 w 6857455"/>
                <a:gd name="connsiteY15" fmla="*/ 420738 h 874716"/>
                <a:gd name="connsiteX16" fmla="*/ 5880933 w 6857455"/>
                <a:gd name="connsiteY16" fmla="*/ 430646 h 874716"/>
                <a:gd name="connsiteX17" fmla="*/ 5862452 w 6857455"/>
                <a:gd name="connsiteY17" fmla="*/ 438648 h 874716"/>
                <a:gd name="connsiteX18" fmla="*/ 5685283 w 6857455"/>
                <a:gd name="connsiteY18" fmla="*/ 498658 h 874716"/>
                <a:gd name="connsiteX19" fmla="*/ 5567169 w 6857455"/>
                <a:gd name="connsiteY19" fmla="*/ 499420 h 874716"/>
                <a:gd name="connsiteX20" fmla="*/ 5527923 w 6857455"/>
                <a:gd name="connsiteY20" fmla="*/ 490466 h 874716"/>
                <a:gd name="connsiteX21" fmla="*/ 5456292 w 6857455"/>
                <a:gd name="connsiteY21" fmla="*/ 450650 h 874716"/>
                <a:gd name="connsiteX22" fmla="*/ 5424670 w 6857455"/>
                <a:gd name="connsiteY22" fmla="*/ 444934 h 874716"/>
                <a:gd name="connsiteX23" fmla="*/ 5368662 w 6857455"/>
                <a:gd name="connsiteY23" fmla="*/ 441124 h 874716"/>
                <a:gd name="connsiteX24" fmla="*/ 5247118 w 6857455"/>
                <a:gd name="connsiteY24" fmla="*/ 444934 h 874716"/>
                <a:gd name="connsiteX25" fmla="*/ 5088617 w 6857455"/>
                <a:gd name="connsiteY25" fmla="*/ 428742 h 874716"/>
                <a:gd name="connsiteX26" fmla="*/ 5025750 w 6857455"/>
                <a:gd name="connsiteY26" fmla="*/ 433694 h 874716"/>
                <a:gd name="connsiteX27" fmla="*/ 4957930 w 6857455"/>
                <a:gd name="connsiteY27" fmla="*/ 442268 h 874716"/>
                <a:gd name="connsiteX28" fmla="*/ 4938116 w 6857455"/>
                <a:gd name="connsiteY28" fmla="*/ 441886 h 874716"/>
                <a:gd name="connsiteX29" fmla="*/ 4833910 w 6857455"/>
                <a:gd name="connsiteY29" fmla="*/ 421693 h 874716"/>
                <a:gd name="connsiteX30" fmla="*/ 4810095 w 6857455"/>
                <a:gd name="connsiteY30" fmla="*/ 408167 h 874716"/>
                <a:gd name="connsiteX31" fmla="*/ 4747991 w 6857455"/>
                <a:gd name="connsiteY31" fmla="*/ 413691 h 874716"/>
                <a:gd name="connsiteX32" fmla="*/ 4692745 w 6857455"/>
                <a:gd name="connsiteY32" fmla="*/ 435790 h 874716"/>
                <a:gd name="connsiteX33" fmla="*/ 4375933 w 6857455"/>
                <a:gd name="connsiteY33" fmla="*/ 483417 h 874716"/>
                <a:gd name="connsiteX34" fmla="*/ 4185426 w 6857455"/>
                <a:gd name="connsiteY34" fmla="*/ 484179 h 874716"/>
                <a:gd name="connsiteX35" fmla="*/ 4052072 w 6857455"/>
                <a:gd name="connsiteY35" fmla="*/ 505134 h 874716"/>
                <a:gd name="connsiteX36" fmla="*/ 4029973 w 6857455"/>
                <a:gd name="connsiteY36" fmla="*/ 527233 h 874716"/>
                <a:gd name="connsiteX37" fmla="*/ 3948626 w 6857455"/>
                <a:gd name="connsiteY37" fmla="*/ 550666 h 874716"/>
                <a:gd name="connsiteX38" fmla="*/ 3871280 w 6857455"/>
                <a:gd name="connsiteY38" fmla="*/ 502275 h 874716"/>
                <a:gd name="connsiteX39" fmla="*/ 3774312 w 6857455"/>
                <a:gd name="connsiteY39" fmla="*/ 429122 h 874716"/>
                <a:gd name="connsiteX40" fmla="*/ 3721543 w 6857455"/>
                <a:gd name="connsiteY40" fmla="*/ 428552 h 874716"/>
                <a:gd name="connsiteX41" fmla="*/ 3612763 w 6857455"/>
                <a:gd name="connsiteY41" fmla="*/ 414263 h 874716"/>
                <a:gd name="connsiteX42" fmla="*/ 3537323 w 6857455"/>
                <a:gd name="connsiteY42" fmla="*/ 389878 h 874716"/>
                <a:gd name="connsiteX43" fmla="*/ 3431593 w 6857455"/>
                <a:gd name="connsiteY43" fmla="*/ 360921 h 874716"/>
                <a:gd name="connsiteX44" fmla="*/ 3392158 w 6857455"/>
                <a:gd name="connsiteY44" fmla="*/ 345681 h 874716"/>
                <a:gd name="connsiteX45" fmla="*/ 3297856 w 6857455"/>
                <a:gd name="connsiteY45" fmla="*/ 323010 h 874716"/>
                <a:gd name="connsiteX46" fmla="*/ 3219748 w 6857455"/>
                <a:gd name="connsiteY46" fmla="*/ 308151 h 874716"/>
                <a:gd name="connsiteX47" fmla="*/ 3156692 w 6857455"/>
                <a:gd name="connsiteY47" fmla="*/ 261668 h 874716"/>
                <a:gd name="connsiteX48" fmla="*/ 3136497 w 6857455"/>
                <a:gd name="connsiteY48" fmla="*/ 237663 h 874716"/>
                <a:gd name="connsiteX49" fmla="*/ 3119733 w 6857455"/>
                <a:gd name="connsiteY49" fmla="*/ 222233 h 874716"/>
                <a:gd name="connsiteX50" fmla="*/ 3045436 w 6857455"/>
                <a:gd name="connsiteY50" fmla="*/ 131742 h 874716"/>
                <a:gd name="connsiteX51" fmla="*/ 3037054 w 6857455"/>
                <a:gd name="connsiteY51" fmla="*/ 124121 h 874716"/>
                <a:gd name="connsiteX52" fmla="*/ 2936466 w 6857455"/>
                <a:gd name="connsiteY52" fmla="*/ 82400 h 874716"/>
                <a:gd name="connsiteX53" fmla="*/ 2901031 w 6857455"/>
                <a:gd name="connsiteY53" fmla="*/ 59731 h 874716"/>
                <a:gd name="connsiteX54" fmla="*/ 2828259 w 6857455"/>
                <a:gd name="connsiteY54" fmla="*/ 3149 h 874716"/>
                <a:gd name="connsiteX55" fmla="*/ 2799492 w 6857455"/>
                <a:gd name="connsiteY55" fmla="*/ 1245 h 874716"/>
                <a:gd name="connsiteX56" fmla="*/ 2693570 w 6857455"/>
                <a:gd name="connsiteY56" fmla="*/ 35154 h 874716"/>
                <a:gd name="connsiteX57" fmla="*/ 2639847 w 6857455"/>
                <a:gd name="connsiteY57" fmla="*/ 73448 h 874716"/>
                <a:gd name="connsiteX58" fmla="*/ 2621178 w 6857455"/>
                <a:gd name="connsiteY58" fmla="*/ 88688 h 874716"/>
                <a:gd name="connsiteX59" fmla="*/ 2489348 w 6857455"/>
                <a:gd name="connsiteY59" fmla="*/ 72304 h 874716"/>
                <a:gd name="connsiteX60" fmla="*/ 2452580 w 6857455"/>
                <a:gd name="connsiteY60" fmla="*/ 68683 h 874716"/>
                <a:gd name="connsiteX61" fmla="*/ 2326464 w 6857455"/>
                <a:gd name="connsiteY61" fmla="*/ 50395 h 874716"/>
                <a:gd name="connsiteX62" fmla="*/ 2300365 w 6857455"/>
                <a:gd name="connsiteY62" fmla="*/ 54777 h 874716"/>
                <a:gd name="connsiteX63" fmla="*/ 2130434 w 6857455"/>
                <a:gd name="connsiteY63" fmla="*/ 58397 h 874716"/>
                <a:gd name="connsiteX64" fmla="*/ 2118621 w 6857455"/>
                <a:gd name="connsiteY64" fmla="*/ 47919 h 874716"/>
                <a:gd name="connsiteX65" fmla="*/ 2057659 w 6857455"/>
                <a:gd name="connsiteY65" fmla="*/ 16866 h 874716"/>
                <a:gd name="connsiteX66" fmla="*/ 1976314 w 6857455"/>
                <a:gd name="connsiteY66" fmla="*/ 8865 h 874716"/>
                <a:gd name="connsiteX67" fmla="*/ 1961454 w 6857455"/>
                <a:gd name="connsiteY67" fmla="*/ 11724 h 874716"/>
                <a:gd name="connsiteX68" fmla="*/ 1906588 w 6857455"/>
                <a:gd name="connsiteY68" fmla="*/ 30964 h 874716"/>
                <a:gd name="connsiteX69" fmla="*/ 1783330 w 6857455"/>
                <a:gd name="connsiteY69" fmla="*/ 48871 h 874716"/>
                <a:gd name="connsiteX70" fmla="*/ 1759327 w 6857455"/>
                <a:gd name="connsiteY70" fmla="*/ 55349 h 874716"/>
                <a:gd name="connsiteX71" fmla="*/ 1716082 w 6857455"/>
                <a:gd name="connsiteY71" fmla="*/ 65445 h 874716"/>
                <a:gd name="connsiteX72" fmla="*/ 1598920 w 6857455"/>
                <a:gd name="connsiteY72" fmla="*/ 72114 h 874716"/>
                <a:gd name="connsiteX73" fmla="*/ 1542150 w 6857455"/>
                <a:gd name="connsiteY73" fmla="*/ 62207 h 874716"/>
                <a:gd name="connsiteX74" fmla="*/ 1516813 w 6857455"/>
                <a:gd name="connsiteY74" fmla="*/ 62779 h 874716"/>
                <a:gd name="connsiteX75" fmla="*/ 1432228 w 6857455"/>
                <a:gd name="connsiteY75" fmla="*/ 88116 h 874716"/>
                <a:gd name="connsiteX76" fmla="*/ 1224765 w 6857455"/>
                <a:gd name="connsiteY76" fmla="*/ 71924 h 874716"/>
                <a:gd name="connsiteX77" fmla="*/ 1159231 w 6857455"/>
                <a:gd name="connsiteY77" fmla="*/ 58207 h 874716"/>
                <a:gd name="connsiteX78" fmla="*/ 1124370 w 6857455"/>
                <a:gd name="connsiteY78" fmla="*/ 56301 h 874716"/>
                <a:gd name="connsiteX79" fmla="*/ 1075600 w 6857455"/>
                <a:gd name="connsiteY79" fmla="*/ 75542 h 874716"/>
                <a:gd name="connsiteX80" fmla="*/ 986633 w 6857455"/>
                <a:gd name="connsiteY80" fmla="*/ 79162 h 874716"/>
                <a:gd name="connsiteX81" fmla="*/ 861089 w 6857455"/>
                <a:gd name="connsiteY81" fmla="*/ 76304 h 874716"/>
                <a:gd name="connsiteX82" fmla="*/ 759168 w 6857455"/>
                <a:gd name="connsiteY82" fmla="*/ 104689 h 874716"/>
                <a:gd name="connsiteX83" fmla="*/ 723735 w 6857455"/>
                <a:gd name="connsiteY83" fmla="*/ 140696 h 874716"/>
                <a:gd name="connsiteX84" fmla="*/ 647532 w 6857455"/>
                <a:gd name="connsiteY84" fmla="*/ 147934 h 874716"/>
                <a:gd name="connsiteX85" fmla="*/ 552659 w 6857455"/>
                <a:gd name="connsiteY85" fmla="*/ 95926 h 874716"/>
                <a:gd name="connsiteX86" fmla="*/ 541800 w 6857455"/>
                <a:gd name="connsiteY86" fmla="*/ 97640 h 874716"/>
                <a:gd name="connsiteX87" fmla="*/ 375107 w 6857455"/>
                <a:gd name="connsiteY87" fmla="*/ 123169 h 874716"/>
                <a:gd name="connsiteX88" fmla="*/ 273567 w 6857455"/>
                <a:gd name="connsiteY88" fmla="*/ 145458 h 874716"/>
                <a:gd name="connsiteX89" fmla="*/ 264043 w 6857455"/>
                <a:gd name="connsiteY89" fmla="*/ 154792 h 874716"/>
                <a:gd name="connsiteX90" fmla="*/ 169360 w 6857455"/>
                <a:gd name="connsiteY90" fmla="*/ 177273 h 874716"/>
                <a:gd name="connsiteX91" fmla="*/ 89347 w 6857455"/>
                <a:gd name="connsiteY91" fmla="*/ 157460 h 874716"/>
                <a:gd name="connsiteX92" fmla="*/ 34291 w 6857455"/>
                <a:gd name="connsiteY92" fmla="*/ 145268 h 874716"/>
                <a:gd name="connsiteX93" fmla="*/ 0 w 6857455"/>
                <a:gd name="connsiteY93" fmla="*/ 142056 h 874716"/>
                <a:gd name="connsiteX94" fmla="*/ 0 w 6857455"/>
                <a:gd name="connsiteY94" fmla="*/ 849556 h 874716"/>
                <a:gd name="connsiteX95" fmla="*/ 60652 w 6857455"/>
                <a:gd name="connsiteY95" fmla="*/ 844783 h 874716"/>
                <a:gd name="connsiteX96" fmla="*/ 119068 w 6857455"/>
                <a:gd name="connsiteY96" fmla="*/ 827281 h 874716"/>
                <a:gd name="connsiteX97" fmla="*/ 171840 w 6857455"/>
                <a:gd name="connsiteY97" fmla="*/ 804420 h 874716"/>
                <a:gd name="connsiteX98" fmla="*/ 274329 w 6857455"/>
                <a:gd name="connsiteY98" fmla="*/ 794324 h 874716"/>
                <a:gd name="connsiteX99" fmla="*/ 306715 w 6857455"/>
                <a:gd name="connsiteY99" fmla="*/ 788798 h 874716"/>
                <a:gd name="connsiteX100" fmla="*/ 393967 w 6857455"/>
                <a:gd name="connsiteY100" fmla="*/ 765937 h 874716"/>
                <a:gd name="connsiteX101" fmla="*/ 493793 w 6857455"/>
                <a:gd name="connsiteY101" fmla="*/ 725549 h 874716"/>
                <a:gd name="connsiteX102" fmla="*/ 546373 w 6857455"/>
                <a:gd name="connsiteY102" fmla="*/ 740600 h 874716"/>
                <a:gd name="connsiteX103" fmla="*/ 730211 w 6857455"/>
                <a:gd name="connsiteY103" fmla="*/ 698116 h 874716"/>
                <a:gd name="connsiteX104" fmla="*/ 784889 w 6857455"/>
                <a:gd name="connsiteY104" fmla="*/ 676018 h 874716"/>
                <a:gd name="connsiteX105" fmla="*/ 800509 w 6857455"/>
                <a:gd name="connsiteY105" fmla="*/ 661349 h 874716"/>
                <a:gd name="connsiteX106" fmla="*/ 857661 w 6857455"/>
                <a:gd name="connsiteY106" fmla="*/ 626868 h 874716"/>
                <a:gd name="connsiteX107" fmla="*/ 949102 w 6857455"/>
                <a:gd name="connsiteY107" fmla="*/ 614676 h 874716"/>
                <a:gd name="connsiteX108" fmla="*/ 960342 w 6857455"/>
                <a:gd name="connsiteY108" fmla="*/ 607435 h 874716"/>
                <a:gd name="connsiteX109" fmla="*/ 977109 w 6857455"/>
                <a:gd name="connsiteY109" fmla="*/ 595815 h 874716"/>
                <a:gd name="connsiteX110" fmla="*/ 1071218 w 6857455"/>
                <a:gd name="connsiteY110" fmla="*/ 575240 h 874716"/>
                <a:gd name="connsiteX111" fmla="*/ 1091983 w 6857455"/>
                <a:gd name="connsiteY111" fmla="*/ 568764 h 874716"/>
                <a:gd name="connsiteX112" fmla="*/ 1109321 w 6857455"/>
                <a:gd name="connsiteY112" fmla="*/ 557904 h 874716"/>
                <a:gd name="connsiteX113" fmla="*/ 1162279 w 6857455"/>
                <a:gd name="connsiteY113" fmla="*/ 532949 h 874716"/>
                <a:gd name="connsiteX114" fmla="*/ 1206097 w 6857455"/>
                <a:gd name="connsiteY114" fmla="*/ 532187 h 874716"/>
                <a:gd name="connsiteX115" fmla="*/ 1266867 w 6857455"/>
                <a:gd name="connsiteY115" fmla="*/ 518088 h 874716"/>
                <a:gd name="connsiteX116" fmla="*/ 1380219 w 6857455"/>
                <a:gd name="connsiteY116" fmla="*/ 504182 h 874716"/>
                <a:gd name="connsiteX117" fmla="*/ 1403461 w 6857455"/>
                <a:gd name="connsiteY117" fmla="*/ 496180 h 874716"/>
                <a:gd name="connsiteX118" fmla="*/ 1544054 w 6857455"/>
                <a:gd name="connsiteY118" fmla="*/ 458268 h 874716"/>
                <a:gd name="connsiteX119" fmla="*/ 1656644 w 6857455"/>
                <a:gd name="connsiteY119" fmla="*/ 459032 h 874716"/>
                <a:gd name="connsiteX120" fmla="*/ 1665406 w 6857455"/>
                <a:gd name="connsiteY120" fmla="*/ 460747 h 874716"/>
                <a:gd name="connsiteX121" fmla="*/ 1708461 w 6857455"/>
                <a:gd name="connsiteY121" fmla="*/ 473318 h 874716"/>
                <a:gd name="connsiteX122" fmla="*/ 1775140 w 6857455"/>
                <a:gd name="connsiteY122" fmla="*/ 469891 h 874716"/>
                <a:gd name="connsiteX123" fmla="*/ 1821051 w 6857455"/>
                <a:gd name="connsiteY123" fmla="*/ 452554 h 874716"/>
                <a:gd name="connsiteX124" fmla="*/ 1878203 w 6857455"/>
                <a:gd name="connsiteY124" fmla="*/ 451792 h 874716"/>
                <a:gd name="connsiteX125" fmla="*/ 1943547 w 6857455"/>
                <a:gd name="connsiteY125" fmla="*/ 462651 h 874716"/>
                <a:gd name="connsiteX126" fmla="*/ 1972884 w 6857455"/>
                <a:gd name="connsiteY126" fmla="*/ 464937 h 874716"/>
                <a:gd name="connsiteX127" fmla="*/ 2053469 w 6857455"/>
                <a:gd name="connsiteY127" fmla="*/ 487417 h 874716"/>
                <a:gd name="connsiteX128" fmla="*/ 2101477 w 6857455"/>
                <a:gd name="connsiteY128" fmla="*/ 481893 h 874716"/>
                <a:gd name="connsiteX129" fmla="*/ 2148722 w 6857455"/>
                <a:gd name="connsiteY129" fmla="*/ 467033 h 874716"/>
                <a:gd name="connsiteX130" fmla="*/ 2179011 w 6857455"/>
                <a:gd name="connsiteY130" fmla="*/ 452744 h 874716"/>
                <a:gd name="connsiteX131" fmla="*/ 2240165 w 6857455"/>
                <a:gd name="connsiteY131" fmla="*/ 442648 h 874716"/>
                <a:gd name="connsiteX132" fmla="*/ 2251404 w 6857455"/>
                <a:gd name="connsiteY132" fmla="*/ 444172 h 874716"/>
                <a:gd name="connsiteX133" fmla="*/ 2433912 w 6857455"/>
                <a:gd name="connsiteY133" fmla="*/ 456746 h 874716"/>
                <a:gd name="connsiteX134" fmla="*/ 2506302 w 6857455"/>
                <a:gd name="connsiteY134" fmla="*/ 476939 h 874716"/>
                <a:gd name="connsiteX135" fmla="*/ 2521735 w 6857455"/>
                <a:gd name="connsiteY135" fmla="*/ 479415 h 874716"/>
                <a:gd name="connsiteX136" fmla="*/ 2675854 w 6857455"/>
                <a:gd name="connsiteY136" fmla="*/ 502086 h 874716"/>
                <a:gd name="connsiteX137" fmla="*/ 2692998 w 6857455"/>
                <a:gd name="connsiteY137" fmla="*/ 503038 h 874716"/>
                <a:gd name="connsiteX138" fmla="*/ 2740816 w 6857455"/>
                <a:gd name="connsiteY138" fmla="*/ 499037 h 874716"/>
                <a:gd name="connsiteX139" fmla="*/ 2853596 w 6857455"/>
                <a:gd name="connsiteY139" fmla="*/ 540187 h 874716"/>
                <a:gd name="connsiteX140" fmla="*/ 2966565 w 6857455"/>
                <a:gd name="connsiteY140" fmla="*/ 554286 h 874716"/>
                <a:gd name="connsiteX141" fmla="*/ 3028671 w 6857455"/>
                <a:gd name="connsiteY141" fmla="*/ 554094 h 874716"/>
                <a:gd name="connsiteX142" fmla="*/ 3073059 w 6857455"/>
                <a:gd name="connsiteY142" fmla="*/ 564192 h 874716"/>
                <a:gd name="connsiteX143" fmla="*/ 3182219 w 6857455"/>
                <a:gd name="connsiteY143" fmla="*/ 594862 h 874716"/>
                <a:gd name="connsiteX144" fmla="*/ 3233656 w 6857455"/>
                <a:gd name="connsiteY144" fmla="*/ 599625 h 874716"/>
                <a:gd name="connsiteX145" fmla="*/ 3288332 w 6857455"/>
                <a:gd name="connsiteY145" fmla="*/ 609914 h 874716"/>
                <a:gd name="connsiteX146" fmla="*/ 3423591 w 6857455"/>
                <a:gd name="connsiteY146" fmla="*/ 656015 h 874716"/>
                <a:gd name="connsiteX147" fmla="*/ 3534084 w 6857455"/>
                <a:gd name="connsiteY147" fmla="*/ 653349 h 874716"/>
                <a:gd name="connsiteX148" fmla="*/ 3604571 w 6857455"/>
                <a:gd name="connsiteY148" fmla="*/ 653918 h 874716"/>
                <a:gd name="connsiteX149" fmla="*/ 3688586 w 6857455"/>
                <a:gd name="connsiteY149" fmla="*/ 669160 h 874716"/>
                <a:gd name="connsiteX150" fmla="*/ 3757358 w 6857455"/>
                <a:gd name="connsiteY150" fmla="*/ 691450 h 874716"/>
                <a:gd name="connsiteX151" fmla="*/ 3852421 w 6857455"/>
                <a:gd name="connsiteY151" fmla="*/ 709167 h 874716"/>
                <a:gd name="connsiteX152" fmla="*/ 3947104 w 6857455"/>
                <a:gd name="connsiteY152" fmla="*/ 743267 h 874716"/>
                <a:gd name="connsiteX153" fmla="*/ 4013208 w 6857455"/>
                <a:gd name="connsiteY153" fmla="*/ 769367 h 874716"/>
                <a:gd name="connsiteX154" fmla="*/ 4105222 w 6857455"/>
                <a:gd name="connsiteY154" fmla="*/ 792417 h 874716"/>
                <a:gd name="connsiteX155" fmla="*/ 4246006 w 6857455"/>
                <a:gd name="connsiteY155" fmla="*/ 808610 h 874716"/>
                <a:gd name="connsiteX156" fmla="*/ 4310779 w 6857455"/>
                <a:gd name="connsiteY156" fmla="*/ 810326 h 874716"/>
                <a:gd name="connsiteX157" fmla="*/ 4413272 w 6857455"/>
                <a:gd name="connsiteY157" fmla="*/ 848235 h 874716"/>
                <a:gd name="connsiteX158" fmla="*/ 4457087 w 6857455"/>
                <a:gd name="connsiteY158" fmla="*/ 866524 h 874716"/>
                <a:gd name="connsiteX159" fmla="*/ 4496523 w 6857455"/>
                <a:gd name="connsiteY159" fmla="*/ 851284 h 874716"/>
                <a:gd name="connsiteX160" fmla="*/ 4522050 w 6857455"/>
                <a:gd name="connsiteY160" fmla="*/ 833757 h 874716"/>
                <a:gd name="connsiteX161" fmla="*/ 4602824 w 6857455"/>
                <a:gd name="connsiteY161" fmla="*/ 848618 h 874716"/>
                <a:gd name="connsiteX162" fmla="*/ 4688553 w 6857455"/>
                <a:gd name="connsiteY162" fmla="*/ 864238 h 874716"/>
                <a:gd name="connsiteX163" fmla="*/ 4749895 w 6857455"/>
                <a:gd name="connsiteY163" fmla="*/ 874716 h 874716"/>
                <a:gd name="connsiteX164" fmla="*/ 4826480 w 6857455"/>
                <a:gd name="connsiteY164" fmla="*/ 866334 h 874716"/>
                <a:gd name="connsiteX165" fmla="*/ 4886870 w 6857455"/>
                <a:gd name="connsiteY165" fmla="*/ 862906 h 874716"/>
                <a:gd name="connsiteX166" fmla="*/ 4935639 w 6857455"/>
                <a:gd name="connsiteY166" fmla="*/ 853190 h 874716"/>
                <a:gd name="connsiteX167" fmla="*/ 4952784 w 6857455"/>
                <a:gd name="connsiteY167" fmla="*/ 847473 h 874716"/>
                <a:gd name="connsiteX168" fmla="*/ 5088617 w 6857455"/>
                <a:gd name="connsiteY168" fmla="*/ 802896 h 874716"/>
                <a:gd name="connsiteX169" fmla="*/ 5233781 w 6857455"/>
                <a:gd name="connsiteY169" fmla="*/ 767271 h 874716"/>
                <a:gd name="connsiteX170" fmla="*/ 5327893 w 6857455"/>
                <a:gd name="connsiteY170" fmla="*/ 789752 h 874716"/>
                <a:gd name="connsiteX171" fmla="*/ 5362946 w 6857455"/>
                <a:gd name="connsiteY171" fmla="*/ 789370 h 874716"/>
                <a:gd name="connsiteX172" fmla="*/ 5524115 w 6857455"/>
                <a:gd name="connsiteY172" fmla="*/ 794514 h 874716"/>
                <a:gd name="connsiteX173" fmla="*/ 5552500 w 6857455"/>
                <a:gd name="connsiteY173" fmla="*/ 800038 h 874716"/>
                <a:gd name="connsiteX174" fmla="*/ 5705857 w 6857455"/>
                <a:gd name="connsiteY174" fmla="*/ 777367 h 874716"/>
                <a:gd name="connsiteX175" fmla="*/ 5761485 w 6857455"/>
                <a:gd name="connsiteY175" fmla="*/ 773557 h 874716"/>
                <a:gd name="connsiteX176" fmla="*/ 5812731 w 6857455"/>
                <a:gd name="connsiteY176" fmla="*/ 767271 h 874716"/>
                <a:gd name="connsiteX177" fmla="*/ 5884361 w 6857455"/>
                <a:gd name="connsiteY177" fmla="*/ 765747 h 874716"/>
                <a:gd name="connsiteX178" fmla="*/ 5958660 w 6857455"/>
                <a:gd name="connsiteY178" fmla="*/ 768605 h 874716"/>
                <a:gd name="connsiteX179" fmla="*/ 6041528 w 6857455"/>
                <a:gd name="connsiteY179" fmla="*/ 768033 h 874716"/>
                <a:gd name="connsiteX180" fmla="*/ 6074297 w 6857455"/>
                <a:gd name="connsiteY180" fmla="*/ 763081 h 874716"/>
                <a:gd name="connsiteX181" fmla="*/ 6162880 w 6857455"/>
                <a:gd name="connsiteY181" fmla="*/ 766509 h 874716"/>
                <a:gd name="connsiteX182" fmla="*/ 6209364 w 6857455"/>
                <a:gd name="connsiteY182" fmla="*/ 760795 h 874716"/>
                <a:gd name="connsiteX183" fmla="*/ 6285948 w 6857455"/>
                <a:gd name="connsiteY183" fmla="*/ 759651 h 874716"/>
                <a:gd name="connsiteX184" fmla="*/ 6310905 w 6857455"/>
                <a:gd name="connsiteY184" fmla="*/ 758316 h 874716"/>
                <a:gd name="connsiteX185" fmla="*/ 6333194 w 6857455"/>
                <a:gd name="connsiteY185" fmla="*/ 757554 h 874716"/>
                <a:gd name="connsiteX186" fmla="*/ 6409586 w 6857455"/>
                <a:gd name="connsiteY186" fmla="*/ 773177 h 874716"/>
                <a:gd name="connsiteX187" fmla="*/ 6477407 w 6857455"/>
                <a:gd name="connsiteY187" fmla="*/ 774129 h 874716"/>
                <a:gd name="connsiteX188" fmla="*/ 6596283 w 6857455"/>
                <a:gd name="connsiteY188" fmla="*/ 786703 h 874716"/>
                <a:gd name="connsiteX189" fmla="*/ 6622573 w 6857455"/>
                <a:gd name="connsiteY189" fmla="*/ 782321 h 874716"/>
                <a:gd name="connsiteX190" fmla="*/ 6704872 w 6857455"/>
                <a:gd name="connsiteY190" fmla="*/ 780607 h 874716"/>
                <a:gd name="connsiteX191" fmla="*/ 6751738 w 6857455"/>
                <a:gd name="connsiteY191" fmla="*/ 779273 h 874716"/>
                <a:gd name="connsiteX192" fmla="*/ 6809650 w 6857455"/>
                <a:gd name="connsiteY192" fmla="*/ 788417 h 874716"/>
                <a:gd name="connsiteX193" fmla="*/ 6832976 w 6857455"/>
                <a:gd name="connsiteY193" fmla="*/ 800428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6857455" h="874716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CA57C31-E309-118F-9E9C-A72A86AB8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572" y="238125"/>
            <a:ext cx="4667250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50641" y="160475"/>
            <a:ext cx="7624080" cy="775206"/>
          </a:xfrm>
        </p:spPr>
        <p:txBody>
          <a:bodyPr anchor="ctr">
            <a:normAutofit fontScale="90000"/>
          </a:bodyPr>
          <a:lstStyle/>
          <a:p>
            <a:pPr marL="0" lvl="0" indent="0">
              <a:buNone/>
            </a:pPr>
            <a:r>
              <a:rPr lang="en-US" sz="5100">
                <a:solidFill>
                  <a:schemeClr val="bg1"/>
                </a:solidFill>
              </a:rPr>
              <a:t>Closing Reflection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1087991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60605" y="4056428"/>
            <a:ext cx="29490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420" y="831045"/>
            <a:ext cx="8285691" cy="342897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lvl="0" indent="0">
              <a:buNone/>
            </a:pPr>
            <a:r>
              <a:rPr lang="en-US" dirty="0">
                <a:solidFill>
                  <a:schemeClr val="bg1"/>
                </a:solidFill>
              </a:rPr>
              <a:t>AI isn’t about replacing educators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it’s about amplifying teaching and learning.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So</a:t>
            </a:r>
            <a:r>
              <a:rPr lang="en-US">
                <a:solidFill>
                  <a:schemeClr val="bg1"/>
                </a:solidFill>
              </a:rPr>
              <a:t> the real question is:</a:t>
            </a:r>
          </a:p>
          <a:p>
            <a:pPr marL="0" lvl="0" indent="0">
              <a:buNone/>
            </a:pP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How do </a:t>
            </a:r>
            <a:r>
              <a:rPr lang="en-US" b="1" i="1" dirty="0">
                <a:solidFill>
                  <a:schemeClr val="bg1"/>
                </a:solidFill>
              </a:rPr>
              <a:t>we</a:t>
            </a:r>
            <a:r>
              <a:rPr lang="en-US" b="1" dirty="0">
                <a:solidFill>
                  <a:schemeClr val="bg1"/>
                </a:solidFill>
              </a:rPr>
              <a:t> take our students from gaps… to gains?</a:t>
            </a:r>
            <a:endParaRPr lang="en-US" b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11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From Gaps to Gains</vt:lpstr>
      <vt:lpstr>Today’s Journey</vt:lpstr>
      <vt:lpstr>From Gaps to Gains</vt:lpstr>
      <vt:lpstr>Talk Buddy — Conversation Practice</vt:lpstr>
      <vt:lpstr>Insight Lens — Your Feedback, Actionable</vt:lpstr>
      <vt:lpstr>Quick Win: Static → Interactive</vt:lpstr>
      <vt:lpstr>Common Concerns </vt:lpstr>
      <vt:lpstr>Beyond Today</vt:lpstr>
      <vt:lpstr>Beyond Teaching: AI in Research</vt:lpstr>
      <vt:lpstr>Shaping Our Support</vt:lpstr>
      <vt:lpstr>Closing Reflection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Gaps to Gains</dc:title>
  <dc:creator>Michael – AI Facilitator</dc:creator>
  <cp:keywords/>
  <cp:revision>237</cp:revision>
  <dcterms:created xsi:type="dcterms:W3CDTF">2025-08-27T01:08:07Z</dcterms:created>
  <dcterms:modified xsi:type="dcterms:W3CDTF">2025-08-27T08:34:37Z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2025-01-01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Practical Applications for Teaching and Learning</vt:lpwstr>
  </property>
  <property fmtid="{D5CDD505-2E9C-101B-9397-08002B2CF9AE}" pid="11" name="toc-title">
    <vt:lpwstr>Table of contents</vt:lpwstr>
  </property>
</Properties>
</file>